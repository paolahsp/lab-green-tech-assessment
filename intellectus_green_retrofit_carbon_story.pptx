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17dbc9dd214ea6" /><Relationship Type="http://schemas.openxmlformats.org/officeDocument/2006/relationships/extended-properties" Target="/docProps/app.xml" Id="Rf716e31d847b4f1a" /><Relationship Type="http://schemas.openxmlformats.org/officeDocument/2006/relationships/officeDocument" Target="/ppt/presentation.xml" Id="R449d6443d42e4c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46fea4581b47c0"/>
  </p:sldMasterIdLst>
  <p:notesMasterIdLst>
    <p:notesMasterId xmlns:r="http://schemas.openxmlformats.org/officeDocument/2006/relationships" r:id="Rdf71e30db70d404e"/>
  </p:notesMasterIdLst>
  <p:sldIdLst>
    <p:sldId xmlns:r="http://schemas.openxmlformats.org/officeDocument/2006/relationships" id="256" r:id="R29184bd92ec642fe"/>
    <p:sldId xmlns:r="http://schemas.openxmlformats.org/officeDocument/2006/relationships" id="257" r:id="Re47929ffc98441e7"/>
    <p:sldId xmlns:r="http://schemas.openxmlformats.org/officeDocument/2006/relationships" id="258" r:id="Rfa2d4c4cefcb4a2e"/>
    <p:sldId xmlns:r="http://schemas.openxmlformats.org/officeDocument/2006/relationships" id="259" r:id="Re156bface0294bec"/>
    <p:sldId xmlns:r="http://schemas.openxmlformats.org/officeDocument/2006/relationships" id="260" r:id="R010e78cca9ff4fe0"/>
    <p:sldId xmlns:r="http://schemas.openxmlformats.org/officeDocument/2006/relationships" id="261" r:id="R661c52a2d8304fad"/>
    <p:sldId xmlns:r="http://schemas.openxmlformats.org/officeDocument/2006/relationships" id="262" r:id="R01c0b2c61faa4dcd"/>
    <p:sldId xmlns:r="http://schemas.openxmlformats.org/officeDocument/2006/relationships" id="263" r:id="Rfa7b13a4ca43440f"/>
    <p:sldId xmlns:r="http://schemas.openxmlformats.org/officeDocument/2006/relationships" id="264" r:id="R90100309418d4455"/>
    <p:sldId xmlns:r="http://schemas.openxmlformats.org/officeDocument/2006/relationships" id="265" r:id="R81cc1206b4eb45c7"/>
    <p:sldId xmlns:r="http://schemas.openxmlformats.org/officeDocument/2006/relationships" id="266" r:id="R7190709e18354083"/>
    <p:sldId xmlns:r="http://schemas.openxmlformats.org/officeDocument/2006/relationships" id="267" r:id="R4c7f21d284ea41cb"/>
    <p:sldId xmlns:r="http://schemas.openxmlformats.org/officeDocument/2006/relationships" id="268" r:id="R96eb75b416164b6a"/>
    <p:sldId xmlns:r="http://schemas.openxmlformats.org/officeDocument/2006/relationships" id="269" r:id="R52d6ab46ec3e48ae"/>
    <p:sldId xmlns:r="http://schemas.openxmlformats.org/officeDocument/2006/relationships" id="270" r:id="Re237c49b359240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32e5a21c9c4883" /><Relationship Type="http://schemas.openxmlformats.org/officeDocument/2006/relationships/slideMaster" Target="/ppt/slideMasters/slideMaster1.xml" Id="Rf746fea4581b47c0" /><Relationship Type="http://schemas.openxmlformats.org/officeDocument/2006/relationships/notesMaster" Target="/ppt/notesMasters/notesMaster1.xml" Id="Rdf71e30db70d404e" /><Relationship Type="http://schemas.openxmlformats.org/officeDocument/2006/relationships/presProps" Target="/ppt/presProps.xml" Id="R1dc02b6001c140e6" /><Relationship Type="http://schemas.openxmlformats.org/officeDocument/2006/relationships/tableStyles" Target="/ppt/tableStyles.xml" Id="Ra9ed394861c64206" /><Relationship Type="http://schemas.openxmlformats.org/officeDocument/2006/relationships/slide" Target="/ppt/slides/slide1.xml" Id="R29184bd92ec642fe" /><Relationship Type="http://schemas.openxmlformats.org/officeDocument/2006/relationships/slide" Target="/ppt/slides/slide2.xml" Id="Re47929ffc98441e7" /><Relationship Type="http://schemas.openxmlformats.org/officeDocument/2006/relationships/slide" Target="/ppt/slides/slide3.xml" Id="Rfa2d4c4cefcb4a2e" /><Relationship Type="http://schemas.openxmlformats.org/officeDocument/2006/relationships/slide" Target="/ppt/slides/slide4.xml" Id="Re156bface0294bec" /><Relationship Type="http://schemas.openxmlformats.org/officeDocument/2006/relationships/slide" Target="/ppt/slides/slide5.xml" Id="R010e78cca9ff4fe0" /><Relationship Type="http://schemas.openxmlformats.org/officeDocument/2006/relationships/slide" Target="/ppt/slides/slide6.xml" Id="R661c52a2d8304fad" /><Relationship Type="http://schemas.openxmlformats.org/officeDocument/2006/relationships/slide" Target="/ppt/slides/slide7.xml" Id="R01c0b2c61faa4dcd" /><Relationship Type="http://schemas.openxmlformats.org/officeDocument/2006/relationships/slide" Target="/ppt/slides/slide8.xml" Id="Rfa7b13a4ca43440f" /><Relationship Type="http://schemas.openxmlformats.org/officeDocument/2006/relationships/slide" Target="/ppt/slides/slide9.xml" Id="R90100309418d4455" /><Relationship Type="http://schemas.openxmlformats.org/officeDocument/2006/relationships/slide" Target="/ppt/slides/slide10.xml" Id="R81cc1206b4eb45c7" /><Relationship Type="http://schemas.openxmlformats.org/officeDocument/2006/relationships/slide" Target="/ppt/slides/slide11.xml" Id="R7190709e18354083" /><Relationship Type="http://schemas.openxmlformats.org/officeDocument/2006/relationships/slide" Target="/ppt/slides/slide12.xml" Id="R4c7f21d284ea41cb" /><Relationship Type="http://schemas.openxmlformats.org/officeDocument/2006/relationships/slide" Target="/ppt/slides/slide13.xml" Id="R96eb75b416164b6a" /><Relationship Type="http://schemas.openxmlformats.org/officeDocument/2006/relationships/slide" Target="/ppt/slides/slide14.xml" Id="R52d6ab46ec3e48ae" /><Relationship Type="http://schemas.openxmlformats.org/officeDocument/2006/relationships/slide" Target="/ppt/slides/slide15.xml" Id="Re237c49b359240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c19abcc1ae49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103bd8a56d4e50" /><Relationship Type="http://schemas.openxmlformats.org/officeDocument/2006/relationships/notesMaster" Target="/ppt/notesMasters/notesMaster1.xml" Id="Raa3bd95dd4344b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70ca99f9da478b" /><Relationship Type="http://schemas.openxmlformats.org/officeDocument/2006/relationships/notesMaster" Target="/ppt/notesMasters/notesMaster1.xml" Id="R9d57bf6265554a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d72825976245b2" /><Relationship Type="http://schemas.openxmlformats.org/officeDocument/2006/relationships/notesMaster" Target="/ppt/notesMasters/notesMaster1.xml" Id="R5174d04e458247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79a4ad30ee46cd" /><Relationship Type="http://schemas.openxmlformats.org/officeDocument/2006/relationships/notesMaster" Target="/ppt/notesMasters/notesMaster1.xml" Id="R48c1f2d1d11647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82e1458bf84ba5" /><Relationship Type="http://schemas.openxmlformats.org/officeDocument/2006/relationships/notesMaster" Target="/ppt/notesMasters/notesMaster1.xml" Id="R0d279a4cc48b43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9f249deb664d36" /><Relationship Type="http://schemas.openxmlformats.org/officeDocument/2006/relationships/notesMaster" Target="/ppt/notesMasters/notesMaster1.xml" Id="Rf6cfd93783164c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38050e92314eba" /><Relationship Type="http://schemas.openxmlformats.org/officeDocument/2006/relationships/notesMaster" Target="/ppt/notesMasters/notesMaster1.xml" Id="R50712f0058fb4d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dc03b3f5b443f1" /><Relationship Type="http://schemas.openxmlformats.org/officeDocument/2006/relationships/notesMaster" Target="/ppt/notesMasters/notesMaster1.xml" Id="Rc79ce35d103f41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69d0334c9c45a1" /><Relationship Type="http://schemas.openxmlformats.org/officeDocument/2006/relationships/notesMaster" Target="/ppt/notesMasters/notesMaster1.xml" Id="R1e27d11d886443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38a12831eb4ad4" /><Relationship Type="http://schemas.openxmlformats.org/officeDocument/2006/relationships/notesMaster" Target="/ppt/notesMasters/notesMaster1.xml" Id="Rf60fc788bfb847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d5a27ce6624dc9" /><Relationship Type="http://schemas.openxmlformats.org/officeDocument/2006/relationships/notesMaster" Target="/ppt/notesMasters/notesMaster1.xml" Id="Raf15836bde7b45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87b4d02c9c46f3" /><Relationship Type="http://schemas.openxmlformats.org/officeDocument/2006/relationships/notesMaster" Target="/ppt/notesMasters/notesMaster1.xml" Id="R590455d43a0a45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e65a36214c4b3c" /><Relationship Type="http://schemas.openxmlformats.org/officeDocument/2006/relationships/notesMaster" Target="/ppt/notesMasters/notesMaster1.xml" Id="R776925121d9f41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932f48e7fc4799" /><Relationship Type="http://schemas.openxmlformats.org/officeDocument/2006/relationships/notesMaster" Target="/ppt/notesMasters/notesMaster1.xml" Id="R56515f6312cd4b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0be88cb8154353" /><Relationship Type="http://schemas.openxmlformats.org/officeDocument/2006/relationships/notesMaster" Target="/ppt/notesMasters/notesMaster1.xml" Id="R6de97f97c6174e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decision: this deck does not claim Intellectus is green. It shows how to make the stack measurable and materially more efficient.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https://github.com/paolahsp/Social-Impact-Consulting-Intelligence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sustainability as an operating discipline: cost, latency, data risk, and carbon move together when unnecessary work is removed.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https://github.com/paolahsp/Social-Impact-Consulting-Intelligence/blob/main/README.md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 is the comparison anchor. We will compare calls, tokens, payload, latency, cost, and—when telemetry exists—energy and carbon intensity per completed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https://sci.greensoftware.foundation/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live evidence records parent execution 3015 at 16.38 seconds and a successful nested child execution 3016. This proves a runnable boundary, not a carbon footprint.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https://github.com/paolahsp/Social-Impact-Consulting-Intelligence/blob/main/docs/INTELLECTUS_AUDIT_GUIDE.md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should we believe this? The repository documents public search, HTTP retrieval, local RAG, specialist analysis, and a multi-workflow path. What it does not contain is telemetry proving the relative size of each hotspot.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https://github.com/paolahsp/Social-Impact-Consulting-Intelligence/blob/main/README.md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turn missing data into false precision. The deck distinguishes repository facts, likely hotspots, and the measurements required to verify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https://github.com/paolahsp/Social-Impact-Consulting-Intelligence/blob/main/README.md</a:t>
            </a:r>
          </a:p>
          <a:p xmlns:a="http://schemas.openxmlformats.org/drawingml/2006/main">
            <a:r>
              <a:t>- https://github.com/paolahsp/Social-Impact-Consulting-Intelligence/blob/main/docs/INTELLECTUS_AUDIT_GUIDE.md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lab frames the assessment through carbon, energy, hardware, and measurement. SCI-style thinking connects them through a disclosed boundary and functional unit.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https://sci.greensoftware.foundation/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Cache raw public evidence and extraction results—not final recommendations. This protects freshness and human judgment while removing duplicated network and compute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https://patterns.greensoftware.foundation/development/data-handling/cache-static-data/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 every smaller-model decision with quality checks. The goal is sufficient capability for each task, not the smallest model at any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https://patterns.greensoftware.foundation/development/optimize-agent-orchestration-reduce-model-calls/</a:t>
            </a:r>
          </a:p>
          <a:p xmlns:a="http://schemas.openxmlformats.org/drawingml/2006/main">
            <a:r>
              <a:t>- https://patterns.greensoftware.foundation/development/right-sized-energy-efficient-ai-models/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Retention is not only a privacy decision. Stored and repeatedly moved data also creates ongoing infrastructure demand. Preserve provenance while removing unnecessary duplicates.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https://patterns.greensoftware.foundation/catalog/cloud/reduce-transmitted-data/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move workloads solely for a greener grid. Confirm data residency, contractual commitments, availability, and user latency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https://patterns.greensoftware.foundation/architecture/</a:t>
            </a:r>
          </a:p>
          <a:p xmlns:a="http://schemas.openxmlformats.org/drawingml/2006/main">
            <a:r>
              <a:t>- https://patterns.greensoftware.foundation/operations/carbon-aware-ai-scheduling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Sequence matters. Telemetry comes first because it establishes a baseline; cache and routing are low-risk quick wins; model and infrastructure changes follow once quality and operational constraints are 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https://sci.greensoftware.foundation/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Cost, tokens, and calls are operational proxies—not a verified carbon footprint. If provider or host energy telemetry becomes available, add kWh per R and calculate operational emissions with region-specific grid intensity.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https://sci.greensoftware.foundation/</a:t>
            </a:r>
          </a:p>
          <a:p xmlns:a="http://schemas.openxmlformats.org/drawingml/2006/main">
            <a:r>
              <a:t>- https://sci-guide.greensoftware.foundation/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percentages are acceptance targets for the pilot. They create a falsifiable before/after test and must not be presented as current savings.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https://patterns.greensoftware.foundation/development/data-handling/cache-static-data/</a:t>
            </a:r>
          </a:p>
          <a:p xmlns:a="http://schemas.openxmlformats.org/drawingml/2006/main">
            <a:r>
              <a:t>- https://patterns.greensoftware.foundation/development/optimize-agent-orchestration-reduce-model-calls/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Offsets are outside this retrofit argument. SCI-style improvement comes from reducing operational and embodied emissions per R; any offset claim would require a separate methodology and disclosure.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https://sci.greensoftware.foundation/</a:t>
            </a:r>
          </a:p>
          <a:p xmlns:a="http://schemas.openxmlformats.org/drawingml/2006/main">
            <a:r>
              <a:t>- https://github.com/paolahsp/Social-Impact-Consulting-Intelligence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c5f8107eca47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e2dd959519493b" /><Relationship Type="http://schemas.openxmlformats.org/officeDocument/2006/relationships/slideLayout" Target="/ppt/slideLayouts/slideLayout1.xml" Id="R6073cde9c90141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73cde9c90141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90325273b47de" /><Relationship Type="http://schemas.openxmlformats.org/officeDocument/2006/relationships/notesSlide" Target="/ppt/notesSlides/notesSlide1.xml" Id="R2b22366780f84d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d0301c8714b31" /><Relationship Type="http://schemas.openxmlformats.org/officeDocument/2006/relationships/notesSlide" Target="/ppt/notesSlides/notesSlide2.xml" Id="R187285dcedec46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d411a3785490a" /><Relationship Type="http://schemas.openxmlformats.org/officeDocument/2006/relationships/notesSlide" Target="/ppt/notesSlides/notesSlide3.xml" Id="Rcb6bcafa7ae64a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13a4a94be4357" /><Relationship Type="http://schemas.openxmlformats.org/officeDocument/2006/relationships/notesSlide" Target="/ppt/notesSlides/notesSlide4.xml" Id="Rfb6732fbb75a42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2423a4cb146c7" /><Relationship Type="http://schemas.openxmlformats.org/officeDocument/2006/relationships/notesSlide" Target="/ppt/notesSlides/notesSlide5.xml" Id="Ra891455c1e4442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c744205c941e2" /><Relationship Type="http://schemas.openxmlformats.org/officeDocument/2006/relationships/notesSlide" Target="/ppt/notesSlides/notesSlide6.xml" Id="R66f2ababa56440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abaaadb5e4f96" /><Relationship Type="http://schemas.openxmlformats.org/officeDocument/2006/relationships/notesSlide" Target="/ppt/notesSlides/notesSlide7.xml" Id="Rd9079b49a87841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d819feb684c3e" /><Relationship Type="http://schemas.openxmlformats.org/officeDocument/2006/relationships/notesSlide" Target="/ppt/notesSlides/notesSlide8.xml" Id="R4ae716d477004d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24404b3f1479a" /><Relationship Type="http://schemas.openxmlformats.org/officeDocument/2006/relationships/notesSlide" Target="/ppt/notesSlides/notesSlide9.xml" Id="R5d27a83badd04e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29187e04243ac" /><Relationship Type="http://schemas.openxmlformats.org/officeDocument/2006/relationships/notesSlide" Target="/ppt/notesSlides/notesSlide10.xml" Id="Rf04ec490e33145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ae7b4e1f04de1" /><Relationship Type="http://schemas.openxmlformats.org/officeDocument/2006/relationships/notesSlide" Target="/ppt/notesSlides/notesSlide11.xml" Id="R5e9d5d4fbf2c4b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ec1ec7e6743cd" /><Relationship Type="http://schemas.openxmlformats.org/officeDocument/2006/relationships/notesSlide" Target="/ppt/notesSlides/notesSlide12.xml" Id="R23fae9186fd449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e5c67b3524927" /><Relationship Type="http://schemas.openxmlformats.org/officeDocument/2006/relationships/notesSlide" Target="/ppt/notesSlides/notesSlide13.xml" Id="R6048ff14dac74c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b211703224e78" /><Relationship Type="http://schemas.openxmlformats.org/officeDocument/2006/relationships/notesSlide" Target="/ppt/notesSlides/notesSlide14.xml" Id="Red9984e6e6ae4c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b869ee4894f1e" /><Relationship Type="http://schemas.openxmlformats.org/officeDocument/2006/relationships/notesSlide" Target="/ppt/notesSlides/notesSlide15.xml" Id="R2d6bd977446243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284922AE-670C-4FE8-86EB-8AA0027D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0"/>
            <a:ext cx="3676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field-strong">
            <a:extLst xmlns:a="http://schemas.openxmlformats.org/drawingml/2006/main">
              <a:ext uri="{FF2B5EF4-FFF2-40B4-BE49-F238E27FC236}">
                <a16:creationId xmlns:a16="http://schemas.microsoft.com/office/drawing/2014/main" id="{A2FBD73C-DAE8-41B9-ACBE-5D3F6E94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0"/>
            <a:ext cx="2400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CA99709-59B8-4C2E-BA3F-B1CA6C03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PATH B · GREEN RETROFIT AUDIT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42973D01-1F50-496D-BD6E-5FAB5C0F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Defending Intellectus'</a:t>
            </a:r>
          </a:p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carbon story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E379D02-203A-4602-8B37-86C56F28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6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 measured retrofit for an n8n-based social-impact diagnostic workflow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030A5A25-ABFD-45B0-8F88-FAE76DC1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D74D49B-0286-4AA6-8BF9-2ADB773D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Paola Hintze · Green Software &amp; Sustainable AI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CD0751-8455-4CD2-8D14-C570D206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Audience: CTO / Operations Lead</a:t>
            </a:r>
          </a:p>
        </p:txBody>
      </p:sp>
    </p:spTree>
    <p:extLst>
      <p:ext uri="{BB962C8B-B14F-4D97-AF65-F5344CB8AC3E}">
        <p14:creationId xmlns:p14="http://schemas.microsoft.com/office/powerpoint/2010/main" val="599956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E06BFA12-14B3-4E32-97B9-C6913152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735021F-33E8-4800-B413-A98D59E6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0C4C591-CCE6-420F-A010-124B5B38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useful report should not pay twice for the same evidence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7EC6E2A-5075-47FE-A26D-00AEA5D7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723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Intellectus turns public evidence into a consultant-reviewed diagnostic. Its value comes from synthesis and judgment - not from repeating search, extraction, context, or model work.</a:t>
            </a:r>
          </a:p>
        </p:txBody>
      </p:sp>
      <p:sp>
        <p:nvSpPr>
          <p:cNvPr id="5" name="stake-0">
            <a:extLst xmlns:a="http://schemas.openxmlformats.org/drawingml/2006/main">
              <a:ext uri="{FF2B5EF4-FFF2-40B4-BE49-F238E27FC236}">
                <a16:creationId xmlns:a16="http://schemas.microsoft.com/office/drawing/2014/main" id="{AAB8953E-3660-4D06-89DC-AE7B00C1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239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F3B1467-C715-41BC-AF3E-710B81BE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95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62793D0-01DB-4756-ACF8-CDC563C9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716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Fewer paid calls and tokens</a:t>
            </a:r>
          </a:p>
        </p:txBody>
      </p:sp>
      <p:sp>
        <p:nvSpPr>
          <p:cNvPr id="8" name="stake-1">
            <a:extLst xmlns:a="http://schemas.openxmlformats.org/drawingml/2006/main">
              <a:ext uri="{FF2B5EF4-FFF2-40B4-BE49-F238E27FC236}">
                <a16:creationId xmlns:a16="http://schemas.microsoft.com/office/drawing/2014/main" id="{792B2CEC-6BBF-45E4-A9B4-045F626B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E1A572B-CDBF-4E4F-9B07-3FD88F0C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LATENCY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2CB085B-7FEA-4C9A-B24F-391198A7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241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Faster reports for consultants</a:t>
            </a:r>
          </a:p>
        </p:txBody>
      </p:sp>
      <p:sp>
        <p:nvSpPr>
          <p:cNvPr id="11" name="stake-2">
            <a:extLst xmlns:a="http://schemas.openxmlformats.org/drawingml/2006/main">
              <a:ext uri="{FF2B5EF4-FFF2-40B4-BE49-F238E27FC236}">
                <a16:creationId xmlns:a16="http://schemas.microsoft.com/office/drawing/2014/main" id="{19413A0C-67C5-4CA9-959F-716BC3C6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290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6410831-7D5B-438B-BCC4-8A3A48B0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00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B7824FC-E86E-4077-8BD9-ECED54DE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767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retained and transferred data</a:t>
            </a:r>
          </a:p>
        </p:txBody>
      </p:sp>
    </p:spTree>
    <p:extLst>
      <p:ext uri="{BB962C8B-B14F-4D97-AF65-F5344CB8AC3E}">
        <p14:creationId xmlns:p14="http://schemas.microsoft.com/office/powerpoint/2010/main" val="11286122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F84A1D66-C507-4600-80E2-E6C72B68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FUNCTIONAL UNIT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AFBE929-5032-4825-8DAA-8295CF3B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BA48EE-D9EC-4E5C-A3BA-B673FABD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unit of value is one review-ready diagnostic report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C6F1F2F-9502-4009-9C4B-5F1E3B6B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D2888C-82B4-466E-AE77-50E32A4F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0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0068313-E113-48B2-86FB-E94AF50C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completed, evidence-grounded diagnostic report for one social-impact organization, ready for consultant review.</a:t>
            </a:r>
          </a:p>
        </p:txBody>
      </p:sp>
      <p:sp>
        <p:nvSpPr>
          <p:cNvPr id="7" name="sci-formula">
            <a:extLst xmlns:a="http://schemas.openxmlformats.org/drawingml/2006/main">
              <a:ext uri="{FF2B5EF4-FFF2-40B4-BE49-F238E27FC236}">
                <a16:creationId xmlns:a16="http://schemas.microsoft.com/office/drawing/2014/main" id="{94111ED5-02ED-4AA9-A7E5-416CA7D9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7810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D37E6C2-85D7-433D-B135-43876FDC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38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SCI thinking: (Energy × grid intensity + embodied emissions) per 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CB7A921-FFEC-431A-A3B0-91290344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This makes every proposed change testable per report - not per vague ‘AI use.’</a:t>
            </a:r>
          </a:p>
        </p:txBody>
      </p:sp>
    </p:spTree>
    <p:extLst>
      <p:ext uri="{BB962C8B-B14F-4D97-AF65-F5344CB8AC3E}">
        <p14:creationId xmlns:p14="http://schemas.microsoft.com/office/powerpoint/2010/main" val="338845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">
            <a:extLst xmlns:a="http://schemas.openxmlformats.org/drawingml/2006/main">
              <a:ext uri="{FF2B5EF4-FFF2-40B4-BE49-F238E27FC236}">
                <a16:creationId xmlns:a16="http://schemas.microsoft.com/office/drawing/2014/main" id="{9ABEB527-50EA-4585-8E60-A8DD2AF5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AUDIT BOUNDARY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65B3E54-325A-410A-AE46-4ED9DF09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20CDA7-7732-4F55-8087-6A832AC8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audit follows the verified path, not the future vision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BAFEDC9-5092-4A52-A5BA-0BDB79F8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6BF7901-4F13-4CA0-8FF7-A2D3B3C0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Current repository evidence: live parent workflow + successful child workflow</a:t>
            </a:r>
          </a:p>
        </p:txBody>
      </p:sp>
      <p:sp>
        <p:nvSpPr>
          <p:cNvPr id="6" name="connector-0">
            <a:extLst xmlns:a="http://schemas.openxmlformats.org/drawingml/2006/main">
              <a:ext uri="{FF2B5EF4-FFF2-40B4-BE49-F238E27FC236}">
                <a16:creationId xmlns:a16="http://schemas.microsoft.com/office/drawing/2014/main" id="{BD8E9EAB-24C4-47BC-97E8-52F72EDF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623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nector-1">
            <a:extLst xmlns:a="http://schemas.openxmlformats.org/drawingml/2006/main">
              <a:ext uri="{FF2B5EF4-FFF2-40B4-BE49-F238E27FC236}">
                <a16:creationId xmlns:a16="http://schemas.microsoft.com/office/drawing/2014/main" id="{BE8734CC-0BB1-4526-B6EB-E1C43263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nector-2">
            <a:extLst xmlns:a="http://schemas.openxmlformats.org/drawingml/2006/main">
              <a:ext uri="{FF2B5EF4-FFF2-40B4-BE49-F238E27FC236}">
                <a16:creationId xmlns:a16="http://schemas.microsoft.com/office/drawing/2014/main" id="{7BB5E63A-29AC-4D32-B01A-9AF9CFAE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623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nector-3">
            <a:extLst xmlns:a="http://schemas.openxmlformats.org/drawingml/2006/main">
              <a:ext uri="{FF2B5EF4-FFF2-40B4-BE49-F238E27FC236}">
                <a16:creationId xmlns:a16="http://schemas.microsoft.com/office/drawing/2014/main" id="{83D999B6-5B32-434B-B85F-B8010AB4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623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de-0">
            <a:extLst xmlns:a="http://schemas.openxmlformats.org/drawingml/2006/main">
              <a:ext uri="{FF2B5EF4-FFF2-40B4-BE49-F238E27FC236}">
                <a16:creationId xmlns:a16="http://schemas.microsoft.com/office/drawing/2014/main" id="{2CF6495A-AA31-45A9-A22A-B658E8B3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752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D36233B-E2F2-4685-8D82-4F963D07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WEB INTAKE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6F4A3D4-1872-40B6-81F3-A003ED57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447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Organization, website, country</a:t>
            </a:r>
          </a:p>
        </p:txBody>
      </p:sp>
      <p:sp>
        <p:nvSpPr>
          <p:cNvPr id="13" name="node-1">
            <a:extLst xmlns:a="http://schemas.openxmlformats.org/drawingml/2006/main">
              <a:ext uri="{FF2B5EF4-FFF2-40B4-BE49-F238E27FC236}">
                <a16:creationId xmlns:a16="http://schemas.microsoft.com/office/drawing/2014/main" id="{D3EC9C5A-181F-4601-9927-DD17A638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57450"/>
            <a:ext cx="1752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93952B8-E33E-4C75-99DF-7D3AE952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860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N8N PARENT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6674360-CF6B-4AF8-A4BE-848C6338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447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Webhook + request validation</a:t>
            </a:r>
          </a:p>
        </p:txBody>
      </p:sp>
      <p:sp>
        <p:nvSpPr>
          <p:cNvPr id="16" name="node-2">
            <a:extLst xmlns:a="http://schemas.openxmlformats.org/drawingml/2006/main">
              <a:ext uri="{FF2B5EF4-FFF2-40B4-BE49-F238E27FC236}">
                <a16:creationId xmlns:a16="http://schemas.microsoft.com/office/drawing/2014/main" id="{65F70201-FDD0-4712-922B-4FAEFE9F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57450"/>
            <a:ext cx="1752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F9EEE98-09B5-4C6E-80DC-E810D4B6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860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CHILD WORKFLOW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8864C55-7654-4E77-BB33-BFC24F05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1447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+ specialist analysis</a:t>
            </a:r>
          </a:p>
        </p:txBody>
      </p:sp>
      <p:sp>
        <p:nvSpPr>
          <p:cNvPr id="19" name="node-3">
            <a:extLst xmlns:a="http://schemas.openxmlformats.org/drawingml/2006/main">
              <a:ext uri="{FF2B5EF4-FFF2-40B4-BE49-F238E27FC236}">
                <a16:creationId xmlns:a16="http://schemas.microsoft.com/office/drawing/2014/main" id="{10B5762A-AE57-4D52-9334-32F464EB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57450"/>
            <a:ext cx="1752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FE16A80-5966-415B-95FA-E1F34C84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860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VALIDATED OUTPUT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147B65B-5092-4675-9BCA-E8D961B5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05150"/>
            <a:ext cx="1447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Knowns, unknowns, actions, KPIs</a:t>
            </a:r>
          </a:p>
        </p:txBody>
      </p:sp>
      <p:sp>
        <p:nvSpPr>
          <p:cNvPr id="22" name="node-4">
            <a:extLst xmlns:a="http://schemas.openxmlformats.org/drawingml/2006/main">
              <a:ext uri="{FF2B5EF4-FFF2-40B4-BE49-F238E27FC236}">
                <a16:creationId xmlns:a16="http://schemas.microsoft.com/office/drawing/2014/main" id="{B5B2807B-B11E-401A-BC6A-107C6B91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1752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70D6F57-6400-4B32-BA48-2C07D07F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860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D84D2C1-1E87-4709-9E6F-D745C24D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05150"/>
            <a:ext cx="1447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Consultant checks before client use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A3107C9-A64C-4C71-B9EC-FAD92C3F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Included in pilot boundary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318476E-E900-4F2A-B02C-458C6AD2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Search, extraction, orchestration, inference, payload transfer, temporary storage, and execution region.</a:t>
            </a:r>
          </a:p>
        </p:txBody>
      </p:sp>
    </p:spTree>
    <p:extLst>
      <p:ext uri="{BB962C8B-B14F-4D97-AF65-F5344CB8AC3E}">
        <p14:creationId xmlns:p14="http://schemas.microsoft.com/office/powerpoint/2010/main" val="1277990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">
            <a:extLst xmlns:a="http://schemas.openxmlformats.org/drawingml/2006/main">
              <a:ext uri="{FF2B5EF4-FFF2-40B4-BE49-F238E27FC236}">
                <a16:creationId xmlns:a16="http://schemas.microsoft.com/office/drawing/2014/main" id="{07A72C08-96AB-406A-87E3-4E4D92E1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ASSESSMENT DEFENSE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5FB2ED9-E18F-4C89-B431-A702BB05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AB754C-3EB4-478A-822F-78E9FBC4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Likely waste concentrates before the final report exists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D07BB4F-2FBA-48AB-B7F0-719076D2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C1286A4-AE96-4FC0-B19F-BFA1BBDC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Hotspot ranking is directional until telemetry is added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AAC2C8-3C74-4360-BD36-DB4057D6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9B42302-0558-43A1-8124-99185535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Repeated web search and extraction</a:t>
            </a:r>
          </a:p>
        </p:txBody>
      </p:sp>
      <p:sp>
        <p:nvSpPr>
          <p:cNvPr id="8" name="bar-bg-0">
            <a:extLst xmlns:a="http://schemas.openxmlformats.org/drawingml/2006/main">
              <a:ext uri="{FF2B5EF4-FFF2-40B4-BE49-F238E27FC236}">
                <a16:creationId xmlns:a16="http://schemas.microsoft.com/office/drawing/2014/main" id="{5EBD48DD-59A1-4CF3-B4FC-A3A4FD47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29B3C3C3-B66A-44D0-BE6B-52AEE0E0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29B90E9-4779-4A37-BC72-12123AEE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812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same organizations and public pages may recur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9BFF112-B199-4771-9115-C588A01A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146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D15B778-2C20-4B0F-8A91-A02320CB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Multi-step orchestration / model calls</a:t>
            </a:r>
          </a:p>
        </p:txBody>
      </p:sp>
      <p:sp>
        <p:nvSpPr>
          <p:cNvPr id="13" name="bar-bg-1">
            <a:extLst xmlns:a="http://schemas.openxmlformats.org/drawingml/2006/main">
              <a:ext uri="{FF2B5EF4-FFF2-40B4-BE49-F238E27FC236}">
                <a16:creationId xmlns:a16="http://schemas.microsoft.com/office/drawing/2014/main" id="{8221BC46-2720-47F4-B052-F61BF11A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r-1">
            <a:extLst xmlns:a="http://schemas.openxmlformats.org/drawingml/2006/main">
              <a:ext uri="{FF2B5EF4-FFF2-40B4-BE49-F238E27FC236}">
                <a16:creationId xmlns:a16="http://schemas.microsoft.com/office/drawing/2014/main" id="{C7F660DB-C957-4D0C-8A99-DB51F85C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149BC22-1FB9-4763-AA43-0B4AEF3C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validation or formatting may not need a model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DAEB222-0D51-4B28-B839-7BD85873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A5A309A-7AE8-4127-B358-E8F137D9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290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 context and duplicated evidence</a:t>
            </a:r>
          </a:p>
        </p:txBody>
      </p:sp>
      <p:sp>
        <p:nvSpPr>
          <p:cNvPr id="18" name="bar-bg-2">
            <a:extLst xmlns:a="http://schemas.openxmlformats.org/drawingml/2006/main">
              <a:ext uri="{FF2B5EF4-FFF2-40B4-BE49-F238E27FC236}">
                <a16:creationId xmlns:a16="http://schemas.microsoft.com/office/drawing/2014/main" id="{9D6F2FA3-9FA9-4CA2-85C2-174B9B0C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r-2">
            <a:extLst xmlns:a="http://schemas.openxmlformats.org/drawingml/2006/main">
              <a:ext uri="{FF2B5EF4-FFF2-40B4-BE49-F238E27FC236}">
                <a16:creationId xmlns:a16="http://schemas.microsoft.com/office/drawing/2014/main" id="{A54F83B8-233E-4C70-B7C0-771BBA81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3286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26F95F6-DD7D-400E-9784-55C75A8A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tokens and payload can grow with every branch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1865BB6-EB69-4D14-907B-8924B905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434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8E993CD-8535-4BDA-9773-37763AD8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434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Storage, retention, and idle capacity</a:t>
            </a:r>
          </a:p>
        </p:txBody>
      </p:sp>
      <p:sp>
        <p:nvSpPr>
          <p:cNvPr id="23" name="bar-bg-3">
            <a:extLst xmlns:a="http://schemas.openxmlformats.org/drawingml/2006/main">
              <a:ext uri="{FF2B5EF4-FFF2-40B4-BE49-F238E27FC236}">
                <a16:creationId xmlns:a16="http://schemas.microsoft.com/office/drawing/2014/main" id="{01803806-266C-40B5-803C-4FFC0BE5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r-3">
            <a:extLst xmlns:a="http://schemas.openxmlformats.org/drawingml/2006/main">
              <a:ext uri="{FF2B5EF4-FFF2-40B4-BE49-F238E27FC236}">
                <a16:creationId xmlns:a16="http://schemas.microsoft.com/office/drawing/2014/main" id="{5006C15A-28B7-4711-89A7-C3CA5A6F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404F6AC-3896-4F9B-BA46-17A60BE3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244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current production settings are unknown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4F38D67-1152-413D-B2F2-5A8F708F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293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Repeated work is the cheapest place to start because it reduces compute without changing the diagnostic promise.</a:t>
            </a:r>
          </a:p>
        </p:txBody>
      </p:sp>
    </p:spTree>
    <p:extLst>
      <p:ext uri="{BB962C8B-B14F-4D97-AF65-F5344CB8AC3E}">
        <p14:creationId xmlns:p14="http://schemas.microsoft.com/office/powerpoint/2010/main" val="20319539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63CE1306-5807-4684-8A4B-43ECD28B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ASSESSMENT DEFENSE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DBD6923-D43A-47AA-B4D6-DCA3A442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6B14D1-C664-47C3-A1FF-C2BC4323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strongest conclusion: measure first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2EEC68D-0CF7-4985-9360-8C580E4B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known-panel">
            <a:extLst xmlns:a="http://schemas.openxmlformats.org/drawingml/2006/main">
              <a:ext uri="{FF2B5EF4-FFF2-40B4-BE49-F238E27FC236}">
                <a16:creationId xmlns:a16="http://schemas.microsoft.com/office/drawing/2014/main" id="{610B50E5-82F0-4FA4-9EF5-30938A98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52197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unknown-panel">
            <a:extLst xmlns:a="http://schemas.openxmlformats.org/drawingml/2006/main">
              <a:ext uri="{FF2B5EF4-FFF2-40B4-BE49-F238E27FC236}">
                <a16:creationId xmlns:a16="http://schemas.microsoft.com/office/drawing/2014/main" id="{15C3D034-A4FE-4A5F-A464-A6DE7E0A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57375"/>
            <a:ext cx="56769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80EEC5-6A92-4E52-BC4D-12AE7488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WHAT WE KNOW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3F378D-9881-4C28-AF4B-497A64C5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47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Primary stack is n8n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Workflow is event-triggered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Public research and local RAG are used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Human review is mandatory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 live 16.38 s parent run is retained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A925D76-8F66-44D2-979E-186B6C15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WHAT WE DO NOT KNOW YET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C69C299-1A9A-410D-9943-156D4AAB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905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Model/provider and model size in production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Calls and tokens per R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Hosting region and grid intensity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Energy or hardware utilization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Cache behavior and retention windows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04FC4C5-75A8-4FE2-BD25-CE7464B4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Skeptic: ‘Why should we believe the hotspots?’  Answer: treat them as testable hypotheses and instrument the verified boundary.</a:t>
            </a:r>
          </a:p>
        </p:txBody>
      </p:sp>
    </p:spTree>
    <p:extLst>
      <p:ext uri="{BB962C8B-B14F-4D97-AF65-F5344CB8AC3E}">
        <p14:creationId xmlns:p14="http://schemas.microsoft.com/office/powerpoint/2010/main" val="1251925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">
            <a:extLst xmlns:a="http://schemas.openxmlformats.org/drawingml/2006/main">
              <a:ext uri="{FF2B5EF4-FFF2-40B4-BE49-F238E27FC236}">
                <a16:creationId xmlns:a16="http://schemas.microsoft.com/office/drawing/2014/main" id="{44E2A677-E1C0-49FE-BEC2-D4E9255C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GSF PILLARS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7B5CF39-D98B-4F12-A137-68583E97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8806AA-0F4B-4B02-8A8D-DAD636CD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 pillars turn a vague green claim into operating choices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AF179E-7640-4758-85DC-B858358A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illar-0">
            <a:extLst xmlns:a="http://schemas.openxmlformats.org/drawingml/2006/main">
              <a:ext uri="{FF2B5EF4-FFF2-40B4-BE49-F238E27FC236}">
                <a16:creationId xmlns:a16="http://schemas.microsoft.com/office/drawing/2014/main" id="{5C43FC60-0A5A-48F4-9D6C-A0E89829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257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64424B2-66EB-4A30-9635-AF084F01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CARBON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3A1CFF2-95D4-45B4-856A-4EDF49A1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 and when electricity is consumed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B1918CC-65E7-40B1-808F-4A188275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Region + grid intensity per R</a:t>
            </a:r>
          </a:p>
        </p:txBody>
      </p:sp>
      <p:sp>
        <p:nvSpPr>
          <p:cNvPr id="9" name="pillar-1">
            <a:extLst xmlns:a="http://schemas.openxmlformats.org/drawingml/2006/main">
              <a:ext uri="{FF2B5EF4-FFF2-40B4-BE49-F238E27FC236}">
                <a16:creationId xmlns:a16="http://schemas.microsoft.com/office/drawing/2014/main" id="{B32B392F-EA5E-4CEE-A7E3-596D4DD6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5257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2CBEA3A-A573-4DB4-83FF-AEAA8C53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57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ENERGY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5FCD875-757F-4FD5-82FA-0275525B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much compute, transfer, and storage each report requires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7EB63DE-B833-4E08-A4DA-CF0E730F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861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Calls, tokens, MB, latency</a:t>
            </a:r>
          </a:p>
        </p:txBody>
      </p:sp>
      <p:sp>
        <p:nvSpPr>
          <p:cNvPr id="13" name="pillar-2">
            <a:extLst xmlns:a="http://schemas.openxmlformats.org/drawingml/2006/main">
              <a:ext uri="{FF2B5EF4-FFF2-40B4-BE49-F238E27FC236}">
                <a16:creationId xmlns:a16="http://schemas.microsoft.com/office/drawing/2014/main" id="{32C18364-9CDB-4F5C-9D73-4F292EC1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5257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F56A7F8-945B-4773-983A-A3CA8D86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C3C52C6-7917-405F-9802-A2339B43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efficiently provisioned resources are used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8818AE0-AA12-4303-953C-56EF93A0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Idle capacity + model/runtime fit</a:t>
            </a:r>
          </a:p>
        </p:txBody>
      </p:sp>
      <p:sp>
        <p:nvSpPr>
          <p:cNvPr id="17" name="pillar-3">
            <a:extLst xmlns:a="http://schemas.openxmlformats.org/drawingml/2006/main">
              <a:ext uri="{FF2B5EF4-FFF2-40B4-BE49-F238E27FC236}">
                <a16:creationId xmlns:a16="http://schemas.microsoft.com/office/drawing/2014/main" id="{61B00885-B269-4381-9677-B55A3300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5257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C381356-DAB5-4167-AA13-1ACDB086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1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45F4649-64C7-48EC-8FC0-6A962EAE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changes are compared without greenwashing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25B6948-8997-4295-8C94-CB6C172C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435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Boundary, R, telemetry, quality</a:t>
            </a:r>
          </a:p>
        </p:txBody>
      </p:sp>
    </p:spTree>
    <p:extLst>
      <p:ext uri="{BB962C8B-B14F-4D97-AF65-F5344CB8AC3E}">
        <p14:creationId xmlns:p14="http://schemas.microsoft.com/office/powerpoint/2010/main" val="1543759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36862E79-0C9B-46AE-86AA-134DC89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603E3AD-C879-4CAC-B0BF-172B8100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D42D49-B77F-4E63-86A2-060FD2E6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Cache evidence, not conclusions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9BD976-DF21-4187-8C24-D1590C16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BD3E53E-F036-48BD-89F7-BC29381B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GSF pattern: Cache static data</a:t>
            </a:r>
          </a:p>
        </p:txBody>
      </p:sp>
      <p:sp>
        <p:nvSpPr>
          <p:cNvPr id="6" name="label-Problem">
            <a:extLst xmlns:a="http://schemas.openxmlformats.org/drawingml/2006/main">
              <a:ext uri="{FF2B5EF4-FFF2-40B4-BE49-F238E27FC236}">
                <a16:creationId xmlns:a16="http://schemas.microsoft.com/office/drawing/2014/main" id="{53491A3E-2060-46B9-A38F-B9097891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text-Problem">
            <a:extLst xmlns:a="http://schemas.openxmlformats.org/drawingml/2006/main">
              <a:ext uri="{FF2B5EF4-FFF2-40B4-BE49-F238E27FC236}">
                <a16:creationId xmlns:a16="http://schemas.microsoft.com/office/drawing/2014/main" id="{F30367BB-C9FE-4D54-BFE3-E9E47057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8" name="problem">
            <a:extLst xmlns:a="http://schemas.openxmlformats.org/drawingml/2006/main">
              <a:ext uri="{FF2B5EF4-FFF2-40B4-BE49-F238E27FC236}">
                <a16:creationId xmlns:a16="http://schemas.microsoft.com/office/drawing/2014/main" id="{B4BEB422-03A6-48D9-8DF9-E665FE98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public page can be searched, downloaded, and extracted again across runs.</a:t>
            </a:r>
          </a:p>
        </p:txBody>
      </p:sp>
      <p:sp>
        <p:nvSpPr>
          <p:cNvPr id="9" name="divider-1">
            <a:extLst xmlns:a="http://schemas.openxmlformats.org/drawingml/2006/main">
              <a:ext uri="{FF2B5EF4-FFF2-40B4-BE49-F238E27FC236}">
                <a16:creationId xmlns:a16="http://schemas.microsoft.com/office/drawing/2014/main" id="{02708B84-F9C2-46FE-A49A-CE1EF9E3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Change">
            <a:extLst xmlns:a="http://schemas.openxmlformats.org/drawingml/2006/main">
              <a:ext uri="{FF2B5EF4-FFF2-40B4-BE49-F238E27FC236}">
                <a16:creationId xmlns:a16="http://schemas.microsoft.com/office/drawing/2014/main" id="{ED76265D-C6B1-4BDB-9A6D-2899B309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812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-text-Change">
            <a:extLst xmlns:a="http://schemas.openxmlformats.org/drawingml/2006/main">
              <a:ext uri="{FF2B5EF4-FFF2-40B4-BE49-F238E27FC236}">
                <a16:creationId xmlns:a16="http://schemas.microsoft.com/office/drawing/2014/main" id="{106450BA-EB41-4B76-89E9-3B613532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383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2" name="change">
            <a:extLst xmlns:a="http://schemas.openxmlformats.org/drawingml/2006/main">
              <a:ext uri="{FF2B5EF4-FFF2-40B4-BE49-F238E27FC236}">
                <a16:creationId xmlns:a16="http://schemas.microsoft.com/office/drawing/2014/main" id="{E6F84E0D-F378-49CB-AF1E-32239E46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00300"/>
            <a:ext cx="37909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Key extracted evidence by normalized URL + content hash + freshness window. Reuse unchanged pages, while keeping timestamps and a manual refresh path.</a:t>
            </a:r>
          </a:p>
        </p:txBody>
      </p:sp>
      <p:sp>
        <p:nvSpPr>
          <p:cNvPr id="13" name="divider-2">
            <a:extLst xmlns:a="http://schemas.openxmlformats.org/drawingml/2006/main">
              <a:ext uri="{FF2B5EF4-FFF2-40B4-BE49-F238E27FC236}">
                <a16:creationId xmlns:a16="http://schemas.microsoft.com/office/drawing/2014/main" id="{D81FB0B4-B1F8-47F5-95BA-FAC9E36B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el-Business result">
            <a:extLst xmlns:a="http://schemas.openxmlformats.org/drawingml/2006/main">
              <a:ext uri="{FF2B5EF4-FFF2-40B4-BE49-F238E27FC236}">
                <a16:creationId xmlns:a16="http://schemas.microsoft.com/office/drawing/2014/main" id="{D4189012-7002-40CF-9F7B-95DCE4B2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text-Business result">
            <a:extLst xmlns:a="http://schemas.openxmlformats.org/drawingml/2006/main">
              <a:ext uri="{FF2B5EF4-FFF2-40B4-BE49-F238E27FC236}">
                <a16:creationId xmlns:a16="http://schemas.microsoft.com/office/drawing/2014/main" id="{77F3DA4D-A23C-437B-A2C8-D54B73BA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38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BUSINESS RESULT</a:t>
            </a:r>
          </a:p>
        </p:txBody>
      </p:sp>
      <p:sp>
        <p:nvSpPr>
          <p:cNvPr id="16" name="result">
            <a:extLst xmlns:a="http://schemas.openxmlformats.org/drawingml/2006/main">
              <a:ext uri="{FF2B5EF4-FFF2-40B4-BE49-F238E27FC236}">
                <a16:creationId xmlns:a16="http://schemas.microsoft.com/office/drawing/2014/main" id="{5E5B5F33-C7E2-443B-916B-98D25284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00300"/>
            <a:ext cx="276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Fewer external calls, lower latency, and a clearer evidence trail.</a:t>
            </a:r>
          </a:p>
        </p:txBody>
      </p:sp>
      <p:sp>
        <p:nvSpPr>
          <p:cNvPr id="17" name="pillars">
            <a:extLst xmlns:a="http://schemas.openxmlformats.org/drawingml/2006/main">
              <a:ext uri="{FF2B5EF4-FFF2-40B4-BE49-F238E27FC236}">
                <a16:creationId xmlns:a16="http://schemas.microsoft.com/office/drawing/2014/main" id="{10B3524C-43A6-484A-91D3-088619B7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Pillars: Energy · Hardware · Measurement</a:t>
            </a:r>
          </a:p>
        </p:txBody>
      </p:sp>
    </p:spTree>
    <p:extLst>
      <p:ext uri="{BB962C8B-B14F-4D97-AF65-F5344CB8AC3E}">
        <p14:creationId xmlns:p14="http://schemas.microsoft.com/office/powerpoint/2010/main" val="828616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19F526A4-AB38-4FB0-83BF-3463707E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B48CCA3-D9FB-4478-A7B7-A023F5B1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057217-21D6-4647-A3ED-D62DBCBF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Route before invoking a large model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EC7BBB6-1ABA-4BD0-A6CE-FC28C8E2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4B4F1BF-F4C9-436C-BB74-EC4D672F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GSF: Optimize agent orchestration · Right-size AI models</a:t>
            </a:r>
          </a:p>
        </p:txBody>
      </p:sp>
      <p:sp>
        <p:nvSpPr>
          <p:cNvPr id="6" name="label-Problem">
            <a:extLst xmlns:a="http://schemas.openxmlformats.org/drawingml/2006/main">
              <a:ext uri="{FF2B5EF4-FFF2-40B4-BE49-F238E27FC236}">
                <a16:creationId xmlns:a16="http://schemas.microsoft.com/office/drawing/2014/main" id="{E031F906-4DC1-410E-BFE0-044C78FA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text-Problem">
            <a:extLst xmlns:a="http://schemas.openxmlformats.org/drawingml/2006/main">
              <a:ext uri="{FF2B5EF4-FFF2-40B4-BE49-F238E27FC236}">
                <a16:creationId xmlns:a16="http://schemas.microsoft.com/office/drawing/2014/main" id="{E15BCE55-E63F-489E-B8FF-69083FDD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8" name="problem">
            <a:extLst xmlns:a="http://schemas.openxmlformats.org/drawingml/2006/main">
              <a:ext uri="{FF2B5EF4-FFF2-40B4-BE49-F238E27FC236}">
                <a16:creationId xmlns:a16="http://schemas.microsoft.com/office/drawing/2014/main" id="{2050AAF9-6784-48A9-8C2E-61176FE3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Validation, formatting, or simple routing may trigger expensive inference without adding diagnostic value.</a:t>
            </a:r>
          </a:p>
        </p:txBody>
      </p:sp>
      <p:sp>
        <p:nvSpPr>
          <p:cNvPr id="9" name="divider-1">
            <a:extLst xmlns:a="http://schemas.openxmlformats.org/drawingml/2006/main">
              <a:ext uri="{FF2B5EF4-FFF2-40B4-BE49-F238E27FC236}">
                <a16:creationId xmlns:a16="http://schemas.microsoft.com/office/drawing/2014/main" id="{917C241D-19A2-4842-9FF0-B7490BF5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Change">
            <a:extLst xmlns:a="http://schemas.openxmlformats.org/drawingml/2006/main">
              <a:ext uri="{FF2B5EF4-FFF2-40B4-BE49-F238E27FC236}">
                <a16:creationId xmlns:a16="http://schemas.microsoft.com/office/drawing/2014/main" id="{E113FD7E-4BA7-4EAA-B448-6FAC30BC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812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-text-Change">
            <a:extLst xmlns:a="http://schemas.openxmlformats.org/drawingml/2006/main">
              <a:ext uri="{FF2B5EF4-FFF2-40B4-BE49-F238E27FC236}">
                <a16:creationId xmlns:a16="http://schemas.microsoft.com/office/drawing/2014/main" id="{0DB17FFC-444F-4B71-BB99-3173E541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383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2" name="change">
            <a:extLst xmlns:a="http://schemas.openxmlformats.org/drawingml/2006/main">
              <a:ext uri="{FF2B5EF4-FFF2-40B4-BE49-F238E27FC236}">
                <a16:creationId xmlns:a16="http://schemas.microsoft.com/office/drawing/2014/main" id="{12DE182D-1520-4E79-89DA-7C7AF0F1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00300"/>
            <a:ext cx="37909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deterministic code first. Route extraction/classification to a smaller model, evaluate a representative sample, and fall back only when confidence or quality fails.</a:t>
            </a:r>
          </a:p>
        </p:txBody>
      </p:sp>
      <p:sp>
        <p:nvSpPr>
          <p:cNvPr id="13" name="divider-2">
            <a:extLst xmlns:a="http://schemas.openxmlformats.org/drawingml/2006/main">
              <a:ext uri="{FF2B5EF4-FFF2-40B4-BE49-F238E27FC236}">
                <a16:creationId xmlns:a16="http://schemas.microsoft.com/office/drawing/2014/main" id="{1F83FC38-41E0-4231-90A7-2F7A71B9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el-Business result">
            <a:extLst xmlns:a="http://schemas.openxmlformats.org/drawingml/2006/main">
              <a:ext uri="{FF2B5EF4-FFF2-40B4-BE49-F238E27FC236}">
                <a16:creationId xmlns:a16="http://schemas.microsoft.com/office/drawing/2014/main" id="{5306E423-DA27-4965-93C2-F97F38BE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text-Business result">
            <a:extLst xmlns:a="http://schemas.openxmlformats.org/drawingml/2006/main">
              <a:ext uri="{FF2B5EF4-FFF2-40B4-BE49-F238E27FC236}">
                <a16:creationId xmlns:a16="http://schemas.microsoft.com/office/drawing/2014/main" id="{33C0C26B-B1AA-447F-97FD-CF6739F5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38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BUSINESS RESULT</a:t>
            </a:r>
          </a:p>
        </p:txBody>
      </p:sp>
      <p:sp>
        <p:nvSpPr>
          <p:cNvPr id="16" name="result">
            <a:extLst xmlns:a="http://schemas.openxmlformats.org/drawingml/2006/main">
              <a:ext uri="{FF2B5EF4-FFF2-40B4-BE49-F238E27FC236}">
                <a16:creationId xmlns:a16="http://schemas.microsoft.com/office/drawing/2014/main" id="{730880EC-D24E-4A67-B131-A21A10CE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00300"/>
            <a:ext cx="276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 cost and energy per R without blind quality loss.</a:t>
            </a:r>
          </a:p>
        </p:txBody>
      </p:sp>
      <p:sp>
        <p:nvSpPr>
          <p:cNvPr id="17" name="pillars">
            <a:extLst xmlns:a="http://schemas.openxmlformats.org/drawingml/2006/main">
              <a:ext uri="{FF2B5EF4-FFF2-40B4-BE49-F238E27FC236}">
                <a16:creationId xmlns:a16="http://schemas.microsoft.com/office/drawing/2014/main" id="{5EC403AA-BF42-488D-8C89-810824A2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Pillars: Energy · Hardware · Measurement</a:t>
            </a:r>
          </a:p>
        </p:txBody>
      </p:sp>
    </p:spTree>
    <p:extLst>
      <p:ext uri="{BB962C8B-B14F-4D97-AF65-F5344CB8AC3E}">
        <p14:creationId xmlns:p14="http://schemas.microsoft.com/office/powerpoint/2010/main" val="15949878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35E6979F-24EB-4D64-B742-56C2C639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B3FBED4-2E89-4433-8DE5-78F29244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7BD153-79B6-4936-86B4-CB80C75C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 and retain only the evidence the report needs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551508F-1FFF-4619-9168-CBF7F364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E8D57E0-5FCA-4684-BD14-4062CD63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GSF pattern: Reduce transmitted data</a:t>
            </a:r>
          </a:p>
        </p:txBody>
      </p:sp>
      <p:sp>
        <p:nvSpPr>
          <p:cNvPr id="6" name="label-Problem">
            <a:extLst xmlns:a="http://schemas.openxmlformats.org/drawingml/2006/main">
              <a:ext uri="{FF2B5EF4-FFF2-40B4-BE49-F238E27FC236}">
                <a16:creationId xmlns:a16="http://schemas.microsoft.com/office/drawing/2014/main" id="{9BEBE928-AACB-4424-BD4C-42985E98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text-Problem">
            <a:extLst xmlns:a="http://schemas.openxmlformats.org/drawingml/2006/main">
              <a:ext uri="{FF2B5EF4-FFF2-40B4-BE49-F238E27FC236}">
                <a16:creationId xmlns:a16="http://schemas.microsoft.com/office/drawing/2014/main" id="{110B7407-FF1A-44D3-92CC-98AB1E7F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8" name="problem">
            <a:extLst xmlns:a="http://schemas.openxmlformats.org/drawingml/2006/main">
              <a:ext uri="{FF2B5EF4-FFF2-40B4-BE49-F238E27FC236}">
                <a16:creationId xmlns:a16="http://schemas.microsoft.com/office/drawing/2014/main" id="{85C3F3F5-8679-4004-B163-9755971E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Raw pages, repeated snippets, long prompts, and verbose intermediate outputs increase transfer and storage.</a:t>
            </a:r>
          </a:p>
        </p:txBody>
      </p:sp>
      <p:sp>
        <p:nvSpPr>
          <p:cNvPr id="9" name="divider-1">
            <a:extLst xmlns:a="http://schemas.openxmlformats.org/drawingml/2006/main">
              <a:ext uri="{FF2B5EF4-FFF2-40B4-BE49-F238E27FC236}">
                <a16:creationId xmlns:a16="http://schemas.microsoft.com/office/drawing/2014/main" id="{99B33138-5CDB-46DB-A72D-CCB10F55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Change">
            <a:extLst xmlns:a="http://schemas.openxmlformats.org/drawingml/2006/main">
              <a:ext uri="{FF2B5EF4-FFF2-40B4-BE49-F238E27FC236}">
                <a16:creationId xmlns:a16="http://schemas.microsoft.com/office/drawing/2014/main" id="{C3D3BCF1-9A98-4291-9158-63515900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812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-text-Change">
            <a:extLst xmlns:a="http://schemas.openxmlformats.org/drawingml/2006/main">
              <a:ext uri="{FF2B5EF4-FFF2-40B4-BE49-F238E27FC236}">
                <a16:creationId xmlns:a16="http://schemas.microsoft.com/office/drawing/2014/main" id="{6992E88A-3C79-456F-AAAF-00E29C65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383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2" name="change">
            <a:extLst xmlns:a="http://schemas.openxmlformats.org/drawingml/2006/main">
              <a:ext uri="{FF2B5EF4-FFF2-40B4-BE49-F238E27FC236}">
                <a16:creationId xmlns:a16="http://schemas.microsoft.com/office/drawing/2014/main" id="{D3957E2D-D1E7-4C5A-BADF-276A70DC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00300"/>
            <a:ext cx="37909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 cited snippets instead of whole pages, reuse structured claims, cap context, compress payloads where useful, and define retention by artifact type.</a:t>
            </a:r>
          </a:p>
        </p:txBody>
      </p:sp>
      <p:sp>
        <p:nvSpPr>
          <p:cNvPr id="13" name="divider-2">
            <a:extLst xmlns:a="http://schemas.openxmlformats.org/drawingml/2006/main">
              <a:ext uri="{FF2B5EF4-FFF2-40B4-BE49-F238E27FC236}">
                <a16:creationId xmlns:a16="http://schemas.microsoft.com/office/drawing/2014/main" id="{9639434E-530D-4829-AC2A-FEDAB50B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el-Business result">
            <a:extLst xmlns:a="http://schemas.openxmlformats.org/drawingml/2006/main">
              <a:ext uri="{FF2B5EF4-FFF2-40B4-BE49-F238E27FC236}">
                <a16:creationId xmlns:a16="http://schemas.microsoft.com/office/drawing/2014/main" id="{0F37A3C0-43BD-444B-B6AD-379FEBF1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text-Business result">
            <a:extLst xmlns:a="http://schemas.openxmlformats.org/drawingml/2006/main">
              <a:ext uri="{FF2B5EF4-FFF2-40B4-BE49-F238E27FC236}">
                <a16:creationId xmlns:a16="http://schemas.microsoft.com/office/drawing/2014/main" id="{8F5FDAA2-B4AD-4B57-9BF7-AA3AC758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38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BUSINESS RESULT</a:t>
            </a:r>
          </a:p>
        </p:txBody>
      </p:sp>
      <p:sp>
        <p:nvSpPr>
          <p:cNvPr id="16" name="result">
            <a:extLst xmlns:a="http://schemas.openxmlformats.org/drawingml/2006/main">
              <a:ext uri="{FF2B5EF4-FFF2-40B4-BE49-F238E27FC236}">
                <a16:creationId xmlns:a16="http://schemas.microsoft.com/office/drawing/2014/main" id="{BD0EF263-98E8-45D6-ACD8-4069462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00300"/>
            <a:ext cx="276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Fewer tokens and MB per report, plus lower privacy and debugging exposure.</a:t>
            </a:r>
          </a:p>
        </p:txBody>
      </p:sp>
      <p:sp>
        <p:nvSpPr>
          <p:cNvPr id="17" name="pillars">
            <a:extLst xmlns:a="http://schemas.openxmlformats.org/drawingml/2006/main">
              <a:ext uri="{FF2B5EF4-FFF2-40B4-BE49-F238E27FC236}">
                <a16:creationId xmlns:a16="http://schemas.microsoft.com/office/drawing/2014/main" id="{733C83EB-FEDA-4F9C-AE5D-F1EF1447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Pillars: Energy · Hardware · Measurement</a:t>
            </a:r>
          </a:p>
        </p:txBody>
      </p:sp>
    </p:spTree>
    <p:extLst>
      <p:ext uri="{BB962C8B-B14F-4D97-AF65-F5344CB8AC3E}">
        <p14:creationId xmlns:p14="http://schemas.microsoft.com/office/powerpoint/2010/main" val="10477106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9BB3E60E-1DD2-4CAB-BE54-36DE2724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B739399-FAC4-4AA2-974B-85BE0A51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E421A1-17B7-422F-B080-A7EF7866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on-demand execution and test greener placement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7A2E128-F85A-4623-A571-02AF462A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59D317F-C572-43C4-8B1C-E6BA857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GSF: On-demand execution · Carbon-aware scheduling</a:t>
            </a:r>
          </a:p>
        </p:txBody>
      </p:sp>
      <p:sp>
        <p:nvSpPr>
          <p:cNvPr id="6" name="label-Problem">
            <a:extLst xmlns:a="http://schemas.openxmlformats.org/drawingml/2006/main">
              <a:ext uri="{FF2B5EF4-FFF2-40B4-BE49-F238E27FC236}">
                <a16:creationId xmlns:a16="http://schemas.microsoft.com/office/drawing/2014/main" id="{D39FA32F-DC54-41D8-B7C6-D328F925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text-Problem">
            <a:extLst xmlns:a="http://schemas.openxmlformats.org/drawingml/2006/main">
              <a:ext uri="{FF2B5EF4-FFF2-40B4-BE49-F238E27FC236}">
                <a16:creationId xmlns:a16="http://schemas.microsoft.com/office/drawing/2014/main" id="{9372C44B-DC36-483D-A3A7-DFA215BD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8" name="problem">
            <a:extLst xmlns:a="http://schemas.openxmlformats.org/drawingml/2006/main">
              <a:ext uri="{FF2B5EF4-FFF2-40B4-BE49-F238E27FC236}">
                <a16:creationId xmlns:a16="http://schemas.microsoft.com/office/drawing/2014/main" id="{A78DEA13-6517-44F6-B103-C8AD81EF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Unknown hosting and idle-capacity choices can dominate a low-volume consultant workflow.</a:t>
            </a:r>
          </a:p>
        </p:txBody>
      </p:sp>
      <p:sp>
        <p:nvSpPr>
          <p:cNvPr id="9" name="divider-1">
            <a:extLst xmlns:a="http://schemas.openxmlformats.org/drawingml/2006/main">
              <a:ext uri="{FF2B5EF4-FFF2-40B4-BE49-F238E27FC236}">
                <a16:creationId xmlns:a16="http://schemas.microsoft.com/office/drawing/2014/main" id="{00FA03B8-081F-4F53-B32D-AF688AF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Change">
            <a:extLst xmlns:a="http://schemas.openxmlformats.org/drawingml/2006/main">
              <a:ext uri="{FF2B5EF4-FFF2-40B4-BE49-F238E27FC236}">
                <a16:creationId xmlns:a16="http://schemas.microsoft.com/office/drawing/2014/main" id="{23442879-0A68-4854-9155-31C1D886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812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-text-Change">
            <a:extLst xmlns:a="http://schemas.openxmlformats.org/drawingml/2006/main">
              <a:ext uri="{FF2B5EF4-FFF2-40B4-BE49-F238E27FC236}">
                <a16:creationId xmlns:a16="http://schemas.microsoft.com/office/drawing/2014/main" id="{A46ACF6D-C1A1-49FD-874E-A6E5144B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383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2" name="change">
            <a:extLst xmlns:a="http://schemas.openxmlformats.org/drawingml/2006/main">
              <a:ext uri="{FF2B5EF4-FFF2-40B4-BE49-F238E27FC236}">
                <a16:creationId xmlns:a16="http://schemas.microsoft.com/office/drawing/2014/main" id="{3548E8F6-C992-41AA-BFC8-7012BE37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00300"/>
            <a:ext cx="37909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Preserve webhook/event-driven execution, avoid always-on workers where feasible, and compare eligible regions or time windows for non-urgent research.</a:t>
            </a:r>
          </a:p>
        </p:txBody>
      </p:sp>
      <p:sp>
        <p:nvSpPr>
          <p:cNvPr id="13" name="divider-2">
            <a:extLst xmlns:a="http://schemas.openxmlformats.org/drawingml/2006/main">
              <a:ext uri="{FF2B5EF4-FFF2-40B4-BE49-F238E27FC236}">
                <a16:creationId xmlns:a16="http://schemas.microsoft.com/office/drawing/2014/main" id="{672C1F73-AB81-4FA4-8C07-9F6D27B2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el-Business result">
            <a:extLst xmlns:a="http://schemas.openxmlformats.org/drawingml/2006/main">
              <a:ext uri="{FF2B5EF4-FFF2-40B4-BE49-F238E27FC236}">
                <a16:creationId xmlns:a16="http://schemas.microsoft.com/office/drawing/2014/main" id="{3CD350DE-089B-4367-9DC9-DBBF934D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text-Business result">
            <a:extLst xmlns:a="http://schemas.openxmlformats.org/drawingml/2006/main">
              <a:ext uri="{FF2B5EF4-FFF2-40B4-BE49-F238E27FC236}">
                <a16:creationId xmlns:a16="http://schemas.microsoft.com/office/drawing/2014/main" id="{A4CC5BF9-1916-4399-A832-F1F47113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38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BUSINESS RESULT</a:t>
            </a:r>
          </a:p>
        </p:txBody>
      </p:sp>
      <p:sp>
        <p:nvSpPr>
          <p:cNvPr id="16" name="result">
            <a:extLst xmlns:a="http://schemas.openxmlformats.org/drawingml/2006/main">
              <a:ext uri="{FF2B5EF4-FFF2-40B4-BE49-F238E27FC236}">
                <a16:creationId xmlns:a16="http://schemas.microsoft.com/office/drawing/2014/main" id="{6BF1B599-D80D-4E8A-8223-1339ACFD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00300"/>
            <a:ext cx="276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idle capacity and a defendable region decision balancing carbon, latency, and compliance.</a:t>
            </a:r>
          </a:p>
        </p:txBody>
      </p:sp>
      <p:sp>
        <p:nvSpPr>
          <p:cNvPr id="17" name="pillars">
            <a:extLst xmlns:a="http://schemas.openxmlformats.org/drawingml/2006/main">
              <a:ext uri="{FF2B5EF4-FFF2-40B4-BE49-F238E27FC236}">
                <a16:creationId xmlns:a16="http://schemas.microsoft.com/office/drawing/2014/main" id="{9FAC3020-FE80-4673-B9D3-E0EF0E83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Pillars: Carbon · Energy · Hardware</a:t>
            </a:r>
          </a:p>
        </p:txBody>
      </p:sp>
    </p:spTree>
    <p:extLst>
      <p:ext uri="{BB962C8B-B14F-4D97-AF65-F5344CB8AC3E}">
        <p14:creationId xmlns:p14="http://schemas.microsoft.com/office/powerpoint/2010/main" val="12404173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3AAA5A4F-F35C-4101-A0E7-9E8B56A2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PRIORITIZATION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DCD5436-D29E-46C1-BE84-146FEC6C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010BD4-9771-4A9B-A7B1-C5DDE3EE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 first, remove waste second, optimize last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F599019-0686-4EEE-A026-832C7771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">
            <a:extLst xmlns:a="http://schemas.openxmlformats.org/drawingml/2006/main">
              <a:ext uri="{FF2B5EF4-FFF2-40B4-BE49-F238E27FC236}">
                <a16:creationId xmlns:a16="http://schemas.microsoft.com/office/drawing/2014/main" id="{7B0B0F27-6A61-414A-A4D7-EED12F1B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0">
            <a:extLst xmlns:a="http://schemas.openxmlformats.org/drawingml/2006/main">
              <a:ext uri="{FF2B5EF4-FFF2-40B4-BE49-F238E27FC236}">
                <a16:creationId xmlns:a16="http://schemas.microsoft.com/office/drawing/2014/main" id="{480F72ED-C6C8-471C-AF8F-B9AACF2E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23EDD86-B951-46DE-9FDD-07115A0C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90B934-CD71-4905-A11F-A32B683A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Instrument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17A6FD4-4C3C-4AC8-960A-5A7CD50E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Log calls, tokens, cache eligibility, payload, latency, cost, region, and quality per R.</a:t>
            </a:r>
          </a:p>
        </p:txBody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43FACCB4-C583-442E-87A3-43DE2C67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4B50F4-DC7A-40C4-AF9A-D189B3B9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28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WEEK 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1EFC904-A9D0-4BBB-8789-B51CBD78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Remove repeated work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EC66E7C-9CE5-43D8-A01A-090F482C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48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Cache evidence, deduplicate URLs, add conditional routing, and cap unnecessary context.</a:t>
            </a:r>
          </a:p>
        </p:txBody>
      </p:sp>
      <p:sp>
        <p:nvSpPr>
          <p:cNvPr id="14" name="dot-2">
            <a:extLst xmlns:a="http://schemas.openxmlformats.org/drawingml/2006/main">
              <a:ext uri="{FF2B5EF4-FFF2-40B4-BE49-F238E27FC236}">
                <a16:creationId xmlns:a16="http://schemas.microsoft.com/office/drawing/2014/main" id="{2E4DD357-5684-41C2-A423-754E9708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9053FE2-1973-4A70-A2A4-D34F7F89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SPRINT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6E4F5D2-5498-461C-A525-6A86479F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Right-size and place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30435A2-4788-446E-AA93-AD18F1BD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Run quality-backed model comparisons and assess on-demand / carbon-aware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4149210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ection">
            <a:extLst xmlns:a="http://schemas.openxmlformats.org/drawingml/2006/main">
              <a:ext uri="{FF2B5EF4-FFF2-40B4-BE49-F238E27FC236}">
                <a16:creationId xmlns:a16="http://schemas.microsoft.com/office/drawing/2014/main" id="{3EB4BA9F-2C7A-46FB-BEEC-01285C76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MEASUREMENT PLAN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7A5865F-E309-4F1F-9405-1C2CF8F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82163A-CA7B-4A48-93B7-2A0FAF8F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1-2 weeks, measure efficiency and quality together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B94099C-3794-4EDE-9D11-EC3A76BC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ad-0">
            <a:extLst xmlns:a="http://schemas.openxmlformats.org/drawingml/2006/main">
              <a:ext uri="{FF2B5EF4-FFF2-40B4-BE49-F238E27FC236}">
                <a16:creationId xmlns:a16="http://schemas.microsoft.com/office/drawing/2014/main" id="{67B043E1-534A-49FC-8055-C1E606DD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64548D-69E3-4658-8EE5-9545AADC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1452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7" name="head-1">
            <a:extLst xmlns:a="http://schemas.openxmlformats.org/drawingml/2006/main">
              <a:ext uri="{FF2B5EF4-FFF2-40B4-BE49-F238E27FC236}">
                <a16:creationId xmlns:a16="http://schemas.microsoft.com/office/drawing/2014/main" id="{3F347144-1DAE-419C-B759-B17853E0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907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1E4591-C3BC-4FD3-B619-A39F9A9A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1452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R</a:t>
            </a:r>
          </a:p>
        </p:txBody>
      </p:sp>
      <p:sp>
        <p:nvSpPr>
          <p:cNvPr id="9" name="head-2">
            <a:extLst xmlns:a="http://schemas.openxmlformats.org/drawingml/2006/main">
              <a:ext uri="{FF2B5EF4-FFF2-40B4-BE49-F238E27FC236}">
                <a16:creationId xmlns:a16="http://schemas.microsoft.com/office/drawing/2014/main" id="{B826F811-9631-4E45-87A4-D6DC2909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23777D-1026-4F5B-9E62-4C499FA3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14525"/>
            <a:ext cx="462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SUCCESS SIGNAL</a:t>
            </a:r>
          </a:p>
        </p:txBody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9B14E40E-0C5E-49E6-A210-E18E61FB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8898365-53A3-46BA-BBC3-D2914B3C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+ model calls</a:t>
            </a:r>
          </a:p>
        </p:txBody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2E826A8E-2584-4720-BF55-1975DA9E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4F90CFF-9A28-4676-9F27-2624AF6C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860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</a:t>
            </a:r>
          </a:p>
        </p:txBody>
      </p:sp>
      <p:sp>
        <p:nvSpPr>
          <p:cNvPr id="15" name="cell-0-2">
            <a:extLst xmlns:a="http://schemas.openxmlformats.org/drawingml/2006/main">
              <a:ext uri="{FF2B5EF4-FFF2-40B4-BE49-F238E27FC236}">
                <a16:creationId xmlns:a16="http://schemas.microsoft.com/office/drawing/2014/main" id="{C61BF4CD-36BE-44B4-ACEB-6891299E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85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5BC90AC-C5E4-4204-A7A9-FF1703BD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≥25% fewer repeat fetches; no deterministic step routed to a model</a:t>
            </a:r>
          </a:p>
        </p:txBody>
      </p:sp>
      <p:sp>
        <p:nvSpPr>
          <p:cNvPr id="17" name="cell-1-0">
            <a:extLst xmlns:a="http://schemas.openxmlformats.org/drawingml/2006/main">
              <a:ext uri="{FF2B5EF4-FFF2-40B4-BE49-F238E27FC236}">
                <a16:creationId xmlns:a16="http://schemas.microsoft.com/office/drawing/2014/main" id="{ECF19246-D7F1-4EDE-8754-888AA4F0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A89D4AF-598C-4370-9926-F0690E62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Input/output tokens</a:t>
            </a:r>
          </a:p>
        </p:txBody>
      </p:sp>
      <p:sp>
        <p:nvSpPr>
          <p:cNvPr id="19" name="cell-1-1">
            <a:extLst xmlns:a="http://schemas.openxmlformats.org/drawingml/2006/main">
              <a:ext uri="{FF2B5EF4-FFF2-40B4-BE49-F238E27FC236}">
                <a16:creationId xmlns:a16="http://schemas.microsoft.com/office/drawing/2014/main" id="{509C985C-28E9-43B6-AC9D-7AAA4F61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8786FE5-C7D2-4F4D-BCFD-DF15B7D7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tokens</a:t>
            </a:r>
          </a:p>
        </p:txBody>
      </p:sp>
      <p:sp>
        <p:nvSpPr>
          <p:cNvPr id="21" name="cell-1-2">
            <a:extLst xmlns:a="http://schemas.openxmlformats.org/drawingml/2006/main">
              <a:ext uri="{FF2B5EF4-FFF2-40B4-BE49-F238E27FC236}">
                <a16:creationId xmlns:a16="http://schemas.microsoft.com/office/drawing/2014/main" id="{26C92811-6C34-494A-9609-A60B3FA2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485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EC969C7-B203-4838-BF18-7F8FB445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194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 median with quality held inside agreed tolerance</a:t>
            </a:r>
          </a:p>
        </p:txBody>
      </p:sp>
      <p:sp>
        <p:nvSpPr>
          <p:cNvPr id="23" name="cell-2-0">
            <a:extLst xmlns:a="http://schemas.openxmlformats.org/drawingml/2006/main">
              <a:ext uri="{FF2B5EF4-FFF2-40B4-BE49-F238E27FC236}">
                <a16:creationId xmlns:a16="http://schemas.microsoft.com/office/drawing/2014/main" id="{D7500C72-EFA1-44DD-92F0-6027B594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D5B2104-282D-4EBA-A6F1-D52C4E5D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Cache reuse</a:t>
            </a:r>
          </a:p>
        </p:txBody>
      </p:sp>
      <p:sp>
        <p:nvSpPr>
          <p:cNvPr id="25" name="cell-2-1">
            <a:extLst xmlns:a="http://schemas.openxmlformats.org/drawingml/2006/main">
              <a:ext uri="{FF2B5EF4-FFF2-40B4-BE49-F238E27FC236}">
                <a16:creationId xmlns:a16="http://schemas.microsoft.com/office/drawing/2014/main" id="{EC724959-AB3E-458A-8D3F-6E0A92B8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575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2126BE8-05E3-4114-B94B-89A61918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528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% eligible</a:t>
            </a:r>
          </a:p>
        </p:txBody>
      </p:sp>
      <p:sp>
        <p:nvSpPr>
          <p:cNvPr id="27" name="cell-2-2">
            <a:extLst xmlns:a="http://schemas.openxmlformats.org/drawingml/2006/main">
              <a:ext uri="{FF2B5EF4-FFF2-40B4-BE49-F238E27FC236}">
                <a16:creationId xmlns:a16="http://schemas.microsoft.com/office/drawing/2014/main" id="{07F83EE2-8F52-411D-9D15-B88C1C80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485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D90F5C8-5E91-41FD-83F5-B57C3BC8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528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≥30% hit rate on recurring organizations or sources</a:t>
            </a:r>
          </a:p>
        </p:txBody>
      </p:sp>
      <p:sp>
        <p:nvSpPr>
          <p:cNvPr id="29" name="cell-3-0">
            <a:extLst xmlns:a="http://schemas.openxmlformats.org/drawingml/2006/main">
              <a:ext uri="{FF2B5EF4-FFF2-40B4-BE49-F238E27FC236}">
                <a16:creationId xmlns:a16="http://schemas.microsoft.com/office/drawing/2014/main" id="{30E82B7F-59DF-4DD3-9A65-E4CE2829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C59A89E-0661-42CB-939F-F01915DC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Payload + retention</a:t>
            </a:r>
          </a:p>
        </p:txBody>
      </p:sp>
      <p:sp>
        <p:nvSpPr>
          <p:cNvPr id="31" name="cell-3-1">
            <a:extLst xmlns:a="http://schemas.openxmlformats.org/drawingml/2006/main">
              <a:ext uri="{FF2B5EF4-FFF2-40B4-BE49-F238E27FC236}">
                <a16:creationId xmlns:a16="http://schemas.microsoft.com/office/drawing/2014/main" id="{AF8AA292-0EE0-46D9-B262-39C7DD67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2D52166-6472-4888-B51B-8D314DC2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862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MB + days</a:t>
            </a:r>
          </a:p>
        </p:txBody>
      </p:sp>
      <p:sp>
        <p:nvSpPr>
          <p:cNvPr id="33" name="cell-3-2">
            <a:extLst xmlns:a="http://schemas.openxmlformats.org/drawingml/2006/main">
              <a:ext uri="{FF2B5EF4-FFF2-40B4-BE49-F238E27FC236}">
                <a16:creationId xmlns:a16="http://schemas.microsoft.com/office/drawing/2014/main" id="{FF6DCF31-AB93-4B2E-A57D-F6844F57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485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727C7D0-FB57-4904-BA6A-505A1DE0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862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 transfer; every artifact has an explicit retention rule</a:t>
            </a:r>
          </a:p>
        </p:txBody>
      </p:sp>
      <p:sp>
        <p:nvSpPr>
          <p:cNvPr id="35" name="cell-4-0">
            <a:extLst xmlns:a="http://schemas.openxmlformats.org/drawingml/2006/main">
              <a:ext uri="{FF2B5EF4-FFF2-40B4-BE49-F238E27FC236}">
                <a16:creationId xmlns:a16="http://schemas.microsoft.com/office/drawing/2014/main" id="{938D70AA-E650-4962-B68D-9E4EEC7D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07B553A-5B4D-41C9-BF8F-E6ECB0D6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Latency + cost</a:t>
            </a:r>
          </a:p>
        </p:txBody>
      </p:sp>
      <p:sp>
        <p:nvSpPr>
          <p:cNvPr id="37" name="cell-4-1">
            <a:extLst xmlns:a="http://schemas.openxmlformats.org/drawingml/2006/main">
              <a:ext uri="{FF2B5EF4-FFF2-40B4-BE49-F238E27FC236}">
                <a16:creationId xmlns:a16="http://schemas.microsoft.com/office/drawing/2014/main" id="{8E7A95B9-4331-4AA4-AEE5-B31D7D4A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243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99224105-5390-4844-8F1B-D6CF5504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196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seconds + EUR</a:t>
            </a:r>
          </a:p>
        </p:txBody>
      </p:sp>
      <p:sp>
        <p:nvSpPr>
          <p:cNvPr id="39" name="cell-4-2">
            <a:extLst xmlns:a="http://schemas.openxmlformats.org/drawingml/2006/main">
              <a:ext uri="{FF2B5EF4-FFF2-40B4-BE49-F238E27FC236}">
                <a16:creationId xmlns:a16="http://schemas.microsoft.com/office/drawing/2014/main" id="{3E2F83A7-4EDA-4D42-B6AC-9AEA8D18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85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FB755D71-BBE8-4F33-9142-31DF237E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196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material regression; lower median cost</a:t>
            </a:r>
          </a:p>
        </p:txBody>
      </p:sp>
      <p:sp>
        <p:nvSpPr>
          <p:cNvPr id="41" name="cell-5-0">
            <a:extLst xmlns:a="http://schemas.openxmlformats.org/drawingml/2006/main">
              <a:ext uri="{FF2B5EF4-FFF2-40B4-BE49-F238E27FC236}">
                <a16:creationId xmlns:a16="http://schemas.microsoft.com/office/drawing/2014/main" id="{BF42EB1C-A2ED-4213-9082-B8C4FF65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B9BF0BC7-DA3D-49FD-B400-FA170B4E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Quality + provenance</a:t>
            </a:r>
          </a:p>
        </p:txBody>
      </p:sp>
      <p:sp>
        <p:nvSpPr>
          <p:cNvPr id="43" name="cell-5-1">
            <a:extLst xmlns:a="http://schemas.openxmlformats.org/drawingml/2006/main">
              <a:ext uri="{FF2B5EF4-FFF2-40B4-BE49-F238E27FC236}">
                <a16:creationId xmlns:a16="http://schemas.microsoft.com/office/drawing/2014/main" id="{356CC277-853D-4AEA-937C-5893CB94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6D8B512D-0F9F-4567-ABF9-78969785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530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pass/error rate</a:t>
            </a:r>
          </a:p>
        </p:txBody>
      </p:sp>
      <p:sp>
        <p:nvSpPr>
          <p:cNvPr id="45" name="cell-5-2">
            <a:extLst xmlns:a="http://schemas.openxmlformats.org/drawingml/2006/main">
              <a:ext uri="{FF2B5EF4-FFF2-40B4-BE49-F238E27FC236}">
                <a16:creationId xmlns:a16="http://schemas.microsoft.com/office/drawing/2014/main" id="{7FF45648-E51D-443B-8F26-E97E7C1E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85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7FE5212E-1CF2-43C3-9488-693B0737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530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citation-coverage or factuality decline</a:t>
            </a:r>
          </a:p>
        </p:txBody>
      </p:sp>
      <p:sp>
        <p:nvSpPr>
          <p:cNvPr id="47" name="cell-6-0">
            <a:extLst xmlns:a="http://schemas.openxmlformats.org/drawingml/2006/main">
              <a:ext uri="{FF2B5EF4-FFF2-40B4-BE49-F238E27FC236}">
                <a16:creationId xmlns:a16="http://schemas.microsoft.com/office/drawing/2014/main" id="{DF6B53A4-C1F2-40D6-BC07-A8819BB2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7E112B11-DDFF-49C5-A4C5-FE5834F1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 + grid intensity</a:t>
            </a:r>
          </a:p>
        </p:txBody>
      </p:sp>
      <p:sp>
        <p:nvSpPr>
          <p:cNvPr id="49" name="cell-6-1">
            <a:extLst xmlns:a="http://schemas.openxmlformats.org/drawingml/2006/main">
              <a:ext uri="{FF2B5EF4-FFF2-40B4-BE49-F238E27FC236}">
                <a16:creationId xmlns:a16="http://schemas.microsoft.com/office/drawing/2014/main" id="{1C5C0315-DBD2-44B4-B662-B4A7F4E6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911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BEF93226-92FA-409F-828C-C90E5500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864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location + factor</a:t>
            </a:r>
          </a:p>
        </p:txBody>
      </p:sp>
      <p:sp>
        <p:nvSpPr>
          <p:cNvPr id="51" name="cell-6-2">
            <a:extLst xmlns:a="http://schemas.openxmlformats.org/drawingml/2006/main">
              <a:ext uri="{FF2B5EF4-FFF2-40B4-BE49-F238E27FC236}">
                <a16:creationId xmlns:a16="http://schemas.microsoft.com/office/drawing/2014/main" id="{53918DF5-F05C-49EF-B91C-2B0B7B08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91150"/>
            <a:ext cx="485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E58404E1-9254-443B-9797-EEFEF044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864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measured run has a disclosed region and source</a:t>
            </a:r>
          </a:p>
        </p:txBody>
      </p:sp>
    </p:spTree>
    <p:extLst>
      <p:ext uri="{BB962C8B-B14F-4D97-AF65-F5344CB8AC3E}">
        <p14:creationId xmlns:p14="http://schemas.microsoft.com/office/powerpoint/2010/main" val="10563738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95094063-5891-43BC-B7BB-F9C2969B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BEFORE / AFTER HYPOTHESIS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EC46CCB-4FD9-4E97-B22B-95C96982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82D292-1A31-4304-8B4F-7397E5CF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successful pilot removes work without weakening quality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3805BCD-AEFC-4E00-A70D-D33FBA81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649073-A764-469E-9439-60775D09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ACB934-2BCE-4FDE-A26E-6C619419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7" name="before">
            <a:extLst xmlns:a="http://schemas.openxmlformats.org/drawingml/2006/main">
              <a:ext uri="{FF2B5EF4-FFF2-40B4-BE49-F238E27FC236}">
                <a16:creationId xmlns:a16="http://schemas.microsoft.com/office/drawing/2014/main" id="{DB5847B6-403E-41AC-B423-6C6424F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48577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fter">
            <a:extLst xmlns:a="http://schemas.openxmlformats.org/drawingml/2006/main">
              <a:ext uri="{FF2B5EF4-FFF2-40B4-BE49-F238E27FC236}">
                <a16:creationId xmlns:a16="http://schemas.microsoft.com/office/drawing/2014/main" id="{7237658E-6F0A-4408-9F73-E9380A24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51625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149F8F7-C3D3-4FC2-BCE6-95A9F562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Fetch → extract → send full context → model → repeat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101368E-0737-43EA-8A9F-0755AF1B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Unknown calls, tokens, region, and retention per report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33B6209-4ECC-480D-A853-71454538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4591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Reuse evidence → route conditionally → send cited snippets → review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779305C-A3C2-4224-8C0E-28294C5C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Pilot targets: ≥25% fewer repeat fetches and ≥30% cache hits, with quality held constant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67CC4F4-5CF0-469B-BD84-B24EB0D2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0070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Hypothesis - not observed performance</a:t>
            </a:r>
          </a:p>
        </p:txBody>
      </p:sp>
    </p:spTree>
    <p:extLst>
      <p:ext uri="{BB962C8B-B14F-4D97-AF65-F5344CB8AC3E}">
        <p14:creationId xmlns:p14="http://schemas.microsoft.com/office/powerpoint/2010/main" val="5025937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5E719BA2-DC55-4C16-9D1A-57203AAA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DA072FD-2110-422B-A409-275393B1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FD503B-7CF9-4443-B719-61D92594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Proceed with a measured retrofit pilot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E22C604-00DA-460B-92C3-4C191D0C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fend">
            <a:extLst xmlns:a="http://schemas.openxmlformats.org/drawingml/2006/main">
              <a:ext uri="{FF2B5EF4-FFF2-40B4-BE49-F238E27FC236}">
                <a16:creationId xmlns:a16="http://schemas.microsoft.com/office/drawing/2014/main" id="{23734EB4-69D0-4259-A943-02E037D1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5219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nnot-claim">
            <a:extLst xmlns:a="http://schemas.openxmlformats.org/drawingml/2006/main">
              <a:ext uri="{FF2B5EF4-FFF2-40B4-BE49-F238E27FC236}">
                <a16:creationId xmlns:a16="http://schemas.microsoft.com/office/drawing/2014/main" id="{D30F5939-FABB-495E-AB63-E0C9F9DB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47850"/>
            <a:ext cx="56769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DDA9F21-E204-4032-95F5-1F9B12D3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WE CAN DEFEND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0F7C9E-FA24-4E51-AB63-93178DCA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476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 and the first measurement boundary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Likely hotspots tied to real architecture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Four practical GSF-aligned changes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 quality-protected measurement plan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E340234-BDB3-45DE-97F3-69D6A55F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WHAT WE CANNOT CLAIM YET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7DE48A-CFE4-446B-97D8-1C20A7EC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4857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 verified SCI score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Carbon neutrality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 greener region without data-residency review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Emissions savings from token or cost proxies alone</a:t>
            </a:r>
          </a:p>
        </p:txBody>
      </p:sp>
      <p:sp>
        <p:nvSpPr>
          <p:cNvPr id="11" name="decision">
            <a:extLst xmlns:a="http://schemas.openxmlformats.org/drawingml/2006/main">
              <a:ext uri="{FF2B5EF4-FFF2-40B4-BE49-F238E27FC236}">
                <a16:creationId xmlns:a16="http://schemas.microsoft.com/office/drawing/2014/main" id="{60F8F868-FB72-4FF0-9E6E-DB382EF3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77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E0EBAB1-135B-4482-99FE-E8001DA7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requested: approve 1-2 weeks of telemetry and one controlled before/after retrofit.</a:t>
            </a:r>
          </a:p>
        </p:txBody>
      </p:sp>
    </p:spTree>
    <p:extLst>
      <p:ext uri="{BB962C8B-B14F-4D97-AF65-F5344CB8AC3E}">
        <p14:creationId xmlns:p14="http://schemas.microsoft.com/office/powerpoint/2010/main" val="1714628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2026-08-20T08:55:26.9310000Z</dcterms:created>
  <dcterms:modified xsi:type="dcterms:W3CDTF">2026-08-20T08:55:26.9310000Z</dcterms:modified>
</coreProperties>
</file>